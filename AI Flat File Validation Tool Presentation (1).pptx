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857375"/>
            <a:ext cx="8001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145" b="1" spc="-2" kern="0" dirty="0">
                <a:solidFill>
                  <a:srgbClr val="D41C2C"/>
                </a:solidFill>
              </a:rPr>
              <a:t>AI Flat File Validation Tool</a:t>
            </a:r>
            <a:endParaRPr lang="en-US" sz="414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6577133" cy="51435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D41C2C"/>
                </a:solidFill>
              </a:rPr>
              <a:t>Current Challenges and Business Impact</a:t>
            </a:r>
            <a:endParaRPr lang="en-US" sz="201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114425"/>
            <a:ext cx="17145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650" y="1085850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Error Location Identification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628650" y="1285875"/>
            <a:ext cx="37719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Inability to quickly identify error locations, especially with multiple errors in a single file; business users must manually scan files.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800225"/>
            <a:ext cx="192881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0081" y="1771650"/>
            <a:ext cx="37504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File Modifications and Overwrites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650081" y="1971675"/>
            <a:ext cx="37504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Files overwritten the next day; if errors are not identified before overwrite, they're lost and require data reconstruction.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486025"/>
            <a:ext cx="17145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650" y="2457450"/>
            <a:ext cx="3771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Backfill Complexity and Delays</a:t>
            </a: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628650" y="2657475"/>
            <a:ext cx="37719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Job errors due to file formatting require extensive data backfill; time-intensive and diverts critical resources.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4743450" y="1085850"/>
            <a:ext cx="4057650" cy="3429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8"/>
          <p:cNvSpPr/>
          <p:nvPr/>
        </p:nvSpPr>
        <p:spPr>
          <a:xfrm>
            <a:off x="4743450" y="1085850"/>
            <a:ext cx="4057650" cy="57150"/>
          </a:xfrm>
          <a:prstGeom prst="rect">
            <a:avLst/>
          </a:prstGeom>
          <a:solidFill>
            <a:srgbClr val="D41C2C"/>
          </a:solidFill>
          <a:ln/>
        </p:spPr>
      </p:sp>
      <p:sp>
        <p:nvSpPr>
          <p:cNvPr id="15" name="Text 9"/>
          <p:cNvSpPr/>
          <p:nvPr/>
        </p:nvSpPr>
        <p:spPr>
          <a:xfrm>
            <a:off x="4972050" y="1314450"/>
            <a:ext cx="3600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D41C2C"/>
                </a:solidFill>
              </a:rPr>
              <a:t>Key Impact Metrics</a:t>
            </a:r>
            <a:endParaRPr lang="en-US" sz="1193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1743075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72075" y="1714500"/>
            <a:ext cx="34004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74151"/>
                </a:solidFill>
              </a:rPr>
              <a:t>Significant hours spent on debugging, change requests, and backfilling data.</a:t>
            </a:r>
            <a:endParaRPr lang="en-US" sz="942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2314575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72075" y="2286000"/>
            <a:ext cx="34004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74151"/>
                </a:solidFill>
              </a:rPr>
              <a:t>Data quality concerns stemming from error propagation across systems.</a:t>
            </a:r>
            <a:endParaRPr lang="en-US" sz="942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2886075"/>
            <a:ext cx="142875" cy="114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00650" y="2857500"/>
            <a:ext cx="3371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74151"/>
                </a:solidFill>
              </a:rPr>
              <a:t>Resource allocation diverted to manual backfill activities instead of innovation.</a:t>
            </a:r>
            <a:endParaRPr lang="en-US" sz="942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2050" y="3457575"/>
            <a:ext cx="85725" cy="1143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43500" y="342900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74151"/>
                </a:solidFill>
              </a:rPr>
              <a:t>Processing delays affecting critical downstream operations and reporting.</a:t>
            </a:r>
            <a:endParaRPr lang="en-US" sz="942" dirty="0"/>
          </a:p>
        </p:txBody>
      </p:sp>
      <p:sp>
        <p:nvSpPr>
          <p:cNvPr id="24" name="Text 14"/>
          <p:cNvSpPr/>
          <p:nvPr/>
        </p:nvSpPr>
        <p:spPr>
          <a:xfrm>
            <a:off x="7241000" y="4652367"/>
            <a:ext cx="15601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9CA3AF"/>
                </a:solidFill>
              </a:rPr>
              <a:t>Confidential - For Internal Use Only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D41C2C"/>
                </a:solidFill>
              </a:rPr>
              <a:t>Solution: AI Flat File Validation Tool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285750" y="728663"/>
            <a:ext cx="1453669" cy="200025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728663"/>
            <a:ext cx="1453669" cy="200025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spc="1" kern="0" dirty="0">
                <a:solidFill>
                  <a:srgbClr val="4B5563"/>
                </a:solidFill>
              </a:rPr>
              <a:t>Technical Approach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1853719" y="742950"/>
            <a:ext cx="32538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151"/>
                </a:solidFill>
              </a:rPr>
              <a:t>On-premises Infrastructure + Google Vertex AI Integration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285750" y="1100138"/>
            <a:ext cx="1623054" cy="9715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2043113"/>
            <a:ext cx="1623054" cy="28575"/>
          </a:xfrm>
          <a:prstGeom prst="rect">
            <a:avLst/>
          </a:prstGeom>
          <a:solidFill>
            <a:srgbClr val="D41C2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70" y="1214438"/>
            <a:ext cx="128588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0050" y="1500188"/>
            <a:ext cx="13944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Rapid Error Detection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400050" y="1700213"/>
            <a:ext cx="1394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Identifies multiple errors with exact coordinates.</a:t>
            </a:r>
            <a:endParaRPr lang="en-US" sz="621" dirty="0"/>
          </a:p>
        </p:txBody>
      </p:sp>
      <p:sp>
        <p:nvSpPr>
          <p:cNvPr id="12" name="Shape 8"/>
          <p:cNvSpPr/>
          <p:nvPr/>
        </p:nvSpPr>
        <p:spPr>
          <a:xfrm>
            <a:off x="2023104" y="1100138"/>
            <a:ext cx="1623054" cy="9715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9"/>
          <p:cNvSpPr/>
          <p:nvPr/>
        </p:nvSpPr>
        <p:spPr>
          <a:xfrm>
            <a:off x="2023104" y="2043113"/>
            <a:ext cx="1623054" cy="28575"/>
          </a:xfrm>
          <a:prstGeom prst="rect">
            <a:avLst/>
          </a:prstGeom>
          <a:solidFill>
            <a:srgbClr val="D41C2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893" y="1214438"/>
            <a:ext cx="17145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37404" y="1500188"/>
            <a:ext cx="13944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Vertex AI Processing</a:t>
            </a:r>
            <a:endParaRPr lang="en-US" sz="683" dirty="0"/>
          </a:p>
        </p:txBody>
      </p:sp>
      <p:sp>
        <p:nvSpPr>
          <p:cNvPr id="16" name="Text 11"/>
          <p:cNvSpPr/>
          <p:nvPr/>
        </p:nvSpPr>
        <p:spPr>
          <a:xfrm>
            <a:off x="2137404" y="1700213"/>
            <a:ext cx="1394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ML-based pattern recognition for accuracy.</a:t>
            </a:r>
            <a:endParaRPr lang="en-US" sz="621" dirty="0"/>
          </a:p>
        </p:txBody>
      </p:sp>
      <p:sp>
        <p:nvSpPr>
          <p:cNvPr id="17" name="Shape 12"/>
          <p:cNvSpPr/>
          <p:nvPr/>
        </p:nvSpPr>
        <p:spPr>
          <a:xfrm>
            <a:off x="3760459" y="1100138"/>
            <a:ext cx="1623054" cy="9715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3"/>
          <p:cNvSpPr/>
          <p:nvPr/>
        </p:nvSpPr>
        <p:spPr>
          <a:xfrm>
            <a:off x="3760459" y="2043113"/>
            <a:ext cx="1623054" cy="28575"/>
          </a:xfrm>
          <a:prstGeom prst="rect">
            <a:avLst/>
          </a:prstGeom>
          <a:solidFill>
            <a:srgbClr val="D41C2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247" y="1214438"/>
            <a:ext cx="17145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74759" y="1500188"/>
            <a:ext cx="13944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Data Categorization</a:t>
            </a:r>
            <a:endParaRPr lang="en-US" sz="683" dirty="0"/>
          </a:p>
        </p:txBody>
      </p:sp>
      <p:sp>
        <p:nvSpPr>
          <p:cNvPr id="21" name="Text 15"/>
          <p:cNvSpPr/>
          <p:nvPr/>
        </p:nvSpPr>
        <p:spPr>
          <a:xfrm>
            <a:off x="3874759" y="1700213"/>
            <a:ext cx="1394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Severity levels and prioritization of issues.</a:t>
            </a:r>
            <a:endParaRPr lang="en-US" sz="621" dirty="0"/>
          </a:p>
        </p:txBody>
      </p:sp>
      <p:sp>
        <p:nvSpPr>
          <p:cNvPr id="22" name="Shape 16"/>
          <p:cNvSpPr/>
          <p:nvPr/>
        </p:nvSpPr>
        <p:spPr>
          <a:xfrm>
            <a:off x="5497813" y="1100138"/>
            <a:ext cx="1623054" cy="9715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Shape 17"/>
          <p:cNvSpPr/>
          <p:nvPr/>
        </p:nvSpPr>
        <p:spPr>
          <a:xfrm>
            <a:off x="5497813" y="2043113"/>
            <a:ext cx="1623054" cy="28575"/>
          </a:xfrm>
          <a:prstGeom prst="rect">
            <a:avLst/>
          </a:prstGeom>
          <a:solidFill>
            <a:srgbClr val="D41C2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033" y="1214438"/>
            <a:ext cx="128588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12113" y="1500188"/>
            <a:ext cx="13944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Automated Scorecards</a:t>
            </a:r>
            <a:endParaRPr lang="en-US" sz="683" dirty="0"/>
          </a:p>
        </p:txBody>
      </p:sp>
      <p:sp>
        <p:nvSpPr>
          <p:cNvPr id="26" name="Text 19"/>
          <p:cNvSpPr/>
          <p:nvPr/>
        </p:nvSpPr>
        <p:spPr>
          <a:xfrm>
            <a:off x="5612113" y="1700213"/>
            <a:ext cx="1394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Comprehensive validation results generated.</a:t>
            </a:r>
            <a:endParaRPr lang="en-US" sz="621" dirty="0"/>
          </a:p>
        </p:txBody>
      </p:sp>
      <p:sp>
        <p:nvSpPr>
          <p:cNvPr id="27" name="Shape 20"/>
          <p:cNvSpPr/>
          <p:nvPr/>
        </p:nvSpPr>
        <p:spPr>
          <a:xfrm>
            <a:off x="7235168" y="1100138"/>
            <a:ext cx="1623054" cy="9715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Shape 21"/>
          <p:cNvSpPr/>
          <p:nvPr/>
        </p:nvSpPr>
        <p:spPr>
          <a:xfrm>
            <a:off x="7235168" y="2043113"/>
            <a:ext cx="1623054" cy="28575"/>
          </a:xfrm>
          <a:prstGeom prst="rect">
            <a:avLst/>
          </a:prstGeom>
          <a:solidFill>
            <a:srgbClr val="D41C2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9525" y="1214438"/>
            <a:ext cx="214313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349468" y="1500188"/>
            <a:ext cx="13944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Scalability</a:t>
            </a:r>
            <a:endParaRPr lang="en-US" sz="683" dirty="0"/>
          </a:p>
        </p:txBody>
      </p:sp>
      <p:sp>
        <p:nvSpPr>
          <p:cNvPr id="31" name="Text 23"/>
          <p:cNvSpPr/>
          <p:nvPr/>
        </p:nvSpPr>
        <p:spPr>
          <a:xfrm>
            <a:off x="7349468" y="1700213"/>
            <a:ext cx="1394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</a:rPr>
              <a:t>Robust cloud infrastructure support.</a:t>
            </a:r>
            <a:endParaRPr lang="en-US" sz="621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300288"/>
            <a:ext cx="160734" cy="14287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3659" y="2271713"/>
            <a:ext cx="17583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Current Implementation</a:t>
            </a:r>
            <a:endParaRPr lang="en-US" sz="987" dirty="0"/>
          </a:p>
        </p:txBody>
      </p:sp>
      <p:sp>
        <p:nvSpPr>
          <p:cNvPr id="34" name="Text 25"/>
          <p:cNvSpPr/>
          <p:nvPr/>
        </p:nvSpPr>
        <p:spPr>
          <a:xfrm>
            <a:off x="485775" y="2586038"/>
            <a:ext cx="39719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Interactive web interface designed for demonstration and manual validation testing. Allows users to upload files and view immediate feedback on data quality.</a:t>
            </a:r>
            <a:endParaRPr lang="en-US" sz="834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325" y="2300288"/>
            <a:ext cx="178594" cy="14287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22069" y="2271713"/>
            <a:ext cx="16809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41C2C"/>
                </a:solidFill>
              </a:rPr>
              <a:t>Future Implementation</a:t>
            </a:r>
            <a:endParaRPr lang="en-US" sz="987" dirty="0"/>
          </a:p>
        </p:txBody>
      </p:sp>
      <p:sp>
        <p:nvSpPr>
          <p:cNvPr id="37" name="Text 27"/>
          <p:cNvSpPr/>
          <p:nvPr/>
        </p:nvSpPr>
        <p:spPr>
          <a:xfrm>
            <a:off x="4886325" y="2586038"/>
            <a:ext cx="39719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Python script deployment in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B5563"/>
                </a:solidFill>
              </a:rPr>
              <a:t>Autosys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 for automated processing. System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will automatically validate files, generate scorecards, and trigger email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notifications based on configurable parameters.</a:t>
            </a:r>
            <a:endParaRPr lang="en-US" sz="834" dirty="0"/>
          </a:p>
        </p:txBody>
      </p:sp>
      <p:sp>
        <p:nvSpPr>
          <p:cNvPr id="38" name="Shape 28"/>
          <p:cNvSpPr/>
          <p:nvPr/>
        </p:nvSpPr>
        <p:spPr>
          <a:xfrm>
            <a:off x="285750" y="4457700"/>
            <a:ext cx="8572500" cy="400050"/>
          </a:xfrm>
          <a:prstGeom prst="rect">
            <a:avLst/>
          </a:prstGeom>
          <a:solidFill>
            <a:srgbClr val="D41C2C"/>
          </a:solidFill>
          <a:ln/>
        </p:spPr>
      </p:sp>
      <p:sp>
        <p:nvSpPr>
          <p:cNvPr id="39" name="Text 29"/>
          <p:cNvSpPr/>
          <p:nvPr/>
        </p:nvSpPr>
        <p:spPr>
          <a:xfrm>
            <a:off x="400050" y="4572000"/>
            <a:ext cx="11693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</a:rPr>
              <a:t>Strategic Value</a:t>
            </a:r>
            <a:endParaRPr lang="en-US" sz="784" dirty="0"/>
          </a:p>
        </p:txBody>
      </p:sp>
      <p:sp>
        <p:nvSpPr>
          <p:cNvPr id="40" name="Text 30"/>
          <p:cNvSpPr/>
          <p:nvPr/>
        </p:nvSpPr>
        <p:spPr>
          <a:xfrm>
            <a:off x="4949865" y="4572000"/>
            <a:ext cx="37940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FFFFFF"/>
                </a:solidFill>
              </a:rPr>
              <a:t>Driving operational efficiency through automated data integrity validation.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D41C2C"/>
                </a:solidFill>
              </a:rPr>
              <a:t>Tool Capabilities and Workflow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342900" y="942975"/>
            <a:ext cx="48386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Demonstration Highlights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342900" y="1285875"/>
            <a:ext cx="4838691" cy="48577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285875"/>
            <a:ext cx="28575" cy="4857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71600"/>
            <a:ext cx="221456" cy="314325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428750"/>
            <a:ext cx="107156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4381" y="1371600"/>
            <a:ext cx="25369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File Upload and Processing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764381" y="1543050"/>
            <a:ext cx="253692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Seamless ingestion of flat files for immediate analysis.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342900" y="1885950"/>
            <a:ext cx="4838691" cy="48577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Shape 8"/>
          <p:cNvSpPr/>
          <p:nvPr/>
        </p:nvSpPr>
        <p:spPr>
          <a:xfrm>
            <a:off x="342900" y="1885950"/>
            <a:ext cx="28575" cy="4857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9"/>
          <p:cNvSpPr/>
          <p:nvPr/>
        </p:nvSpPr>
        <p:spPr>
          <a:xfrm>
            <a:off x="428625" y="1971675"/>
            <a:ext cx="275034" cy="314325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028825"/>
            <a:ext cx="160734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7959" y="1971675"/>
            <a:ext cx="32040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Error Identification and Location</a:t>
            </a:r>
            <a:endParaRPr lang="en-US" sz="784" dirty="0"/>
          </a:p>
        </p:txBody>
      </p:sp>
      <p:sp>
        <p:nvSpPr>
          <p:cNvPr id="16" name="Text 11"/>
          <p:cNvSpPr/>
          <p:nvPr/>
        </p:nvSpPr>
        <p:spPr>
          <a:xfrm>
            <a:off x="817959" y="2143125"/>
            <a:ext cx="320402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Precise highlighting of multiple errors with row/column coordinates.</a:t>
            </a:r>
            <a:endParaRPr lang="en-US" sz="727" dirty="0"/>
          </a:p>
        </p:txBody>
      </p:sp>
      <p:sp>
        <p:nvSpPr>
          <p:cNvPr id="17" name="Shape 12"/>
          <p:cNvSpPr/>
          <p:nvPr/>
        </p:nvSpPr>
        <p:spPr>
          <a:xfrm>
            <a:off x="342900" y="2486025"/>
            <a:ext cx="4838691" cy="48577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3"/>
          <p:cNvSpPr/>
          <p:nvPr/>
        </p:nvSpPr>
        <p:spPr>
          <a:xfrm>
            <a:off x="342900" y="2486025"/>
            <a:ext cx="28575" cy="4857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4"/>
          <p:cNvSpPr/>
          <p:nvPr/>
        </p:nvSpPr>
        <p:spPr>
          <a:xfrm>
            <a:off x="428625" y="2571750"/>
            <a:ext cx="257175" cy="314325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628900"/>
            <a:ext cx="142875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0100" y="2571750"/>
            <a:ext cx="2879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Data Quality Assessment</a:t>
            </a:r>
            <a:endParaRPr lang="en-US" sz="784" dirty="0"/>
          </a:p>
        </p:txBody>
      </p:sp>
      <p:sp>
        <p:nvSpPr>
          <p:cNvPr id="22" name="Text 16"/>
          <p:cNvSpPr/>
          <p:nvPr/>
        </p:nvSpPr>
        <p:spPr>
          <a:xfrm>
            <a:off x="800100" y="2743200"/>
            <a:ext cx="28794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Comprehensive scoring based on predefined validation rules.</a:t>
            </a:r>
            <a:endParaRPr lang="en-US" sz="727" dirty="0"/>
          </a:p>
        </p:txBody>
      </p:sp>
      <p:sp>
        <p:nvSpPr>
          <p:cNvPr id="23" name="Shape 17"/>
          <p:cNvSpPr/>
          <p:nvPr/>
        </p:nvSpPr>
        <p:spPr>
          <a:xfrm>
            <a:off x="342900" y="3086100"/>
            <a:ext cx="4838691" cy="48577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Shape 18"/>
          <p:cNvSpPr/>
          <p:nvPr/>
        </p:nvSpPr>
        <p:spPr>
          <a:xfrm>
            <a:off x="342900" y="3086100"/>
            <a:ext cx="28575" cy="4857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19"/>
          <p:cNvSpPr/>
          <p:nvPr/>
        </p:nvSpPr>
        <p:spPr>
          <a:xfrm>
            <a:off x="428625" y="3171825"/>
            <a:ext cx="221456" cy="314325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228975"/>
            <a:ext cx="107156" cy="2000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4381" y="3171825"/>
            <a:ext cx="232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Scorecard Generation</a:t>
            </a:r>
            <a:endParaRPr lang="en-US" sz="784" dirty="0"/>
          </a:p>
        </p:txBody>
      </p:sp>
      <p:sp>
        <p:nvSpPr>
          <p:cNvPr id="28" name="Text 21"/>
          <p:cNvSpPr/>
          <p:nvPr/>
        </p:nvSpPr>
        <p:spPr>
          <a:xfrm>
            <a:off x="764381" y="3343275"/>
            <a:ext cx="2322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Exportable validation results for audit and review.</a:t>
            </a:r>
            <a:endParaRPr lang="en-US" sz="727" dirty="0"/>
          </a:p>
        </p:txBody>
      </p:sp>
      <p:sp>
        <p:nvSpPr>
          <p:cNvPr id="29" name="Shape 22"/>
          <p:cNvSpPr/>
          <p:nvPr/>
        </p:nvSpPr>
        <p:spPr>
          <a:xfrm>
            <a:off x="342900" y="3686175"/>
            <a:ext cx="4838691" cy="48577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Shape 23"/>
          <p:cNvSpPr/>
          <p:nvPr/>
        </p:nvSpPr>
        <p:spPr>
          <a:xfrm>
            <a:off x="342900" y="3686175"/>
            <a:ext cx="28575" cy="48577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Shape 24"/>
          <p:cNvSpPr/>
          <p:nvPr/>
        </p:nvSpPr>
        <p:spPr>
          <a:xfrm>
            <a:off x="428625" y="3771900"/>
            <a:ext cx="257175" cy="314325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829050"/>
            <a:ext cx="142875" cy="2000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0100" y="3771900"/>
            <a:ext cx="26537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Automated Email Notification</a:t>
            </a:r>
            <a:endParaRPr lang="en-US" sz="784" dirty="0"/>
          </a:p>
        </p:txBody>
      </p:sp>
      <p:sp>
        <p:nvSpPr>
          <p:cNvPr id="34" name="Text 26"/>
          <p:cNvSpPr/>
          <p:nvPr/>
        </p:nvSpPr>
        <p:spPr>
          <a:xfrm>
            <a:off x="800100" y="3943350"/>
            <a:ext cx="26537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Autosys/Python script deployment for proactive alerting.</a:t>
            </a:r>
            <a:endParaRPr lang="en-US" sz="727" dirty="0"/>
          </a:p>
        </p:txBody>
      </p:sp>
      <p:sp>
        <p:nvSpPr>
          <p:cNvPr id="35" name="Shape 27"/>
          <p:cNvSpPr/>
          <p:nvPr/>
        </p:nvSpPr>
        <p:spPr>
          <a:xfrm>
            <a:off x="5410191" y="942975"/>
            <a:ext cx="3390909" cy="4029075"/>
          </a:xfrm>
          <a:prstGeom prst="rect">
            <a:avLst/>
          </a:prstGeom>
          <a:solidFill>
            <a:srgbClr val="D41C2C"/>
          </a:solidFill>
          <a:ln/>
        </p:spPr>
      </p:sp>
      <p:sp>
        <p:nvSpPr>
          <p:cNvPr id="36" name="Text 28"/>
          <p:cNvSpPr/>
          <p:nvPr/>
        </p:nvSpPr>
        <p:spPr>
          <a:xfrm>
            <a:off x="5581641" y="1114425"/>
            <a:ext cx="3048009" cy="321469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Expected Benefits</a:t>
            </a:r>
            <a:endParaRPr lang="en-US" sz="1193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641" y="1607344"/>
            <a:ext cx="142875" cy="48577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838816" y="1607344"/>
            <a:ext cx="27908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Operational Efficiency</a:t>
            </a:r>
            <a:endParaRPr lang="en-US" sz="885" dirty="0"/>
          </a:p>
        </p:txBody>
      </p:sp>
      <p:sp>
        <p:nvSpPr>
          <p:cNvPr id="39" name="Text 30"/>
          <p:cNvSpPr/>
          <p:nvPr/>
        </p:nvSpPr>
        <p:spPr>
          <a:xfrm>
            <a:off x="5838816" y="1807369"/>
            <a:ext cx="27908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</a:rPr>
              <a:t>Drastic reduction in manual file scanning and debugging time.</a:t>
            </a:r>
            <a:endParaRPr lang="en-US" sz="727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1641" y="2264569"/>
            <a:ext cx="142875" cy="3429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838816" y="2264569"/>
            <a:ext cx="266093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Data Integrity</a:t>
            </a:r>
            <a:endParaRPr lang="en-US" sz="885" dirty="0"/>
          </a:p>
        </p:txBody>
      </p:sp>
      <p:sp>
        <p:nvSpPr>
          <p:cNvPr id="42" name="Text 32"/>
          <p:cNvSpPr/>
          <p:nvPr/>
        </p:nvSpPr>
        <p:spPr>
          <a:xfrm>
            <a:off x="5838816" y="2464594"/>
            <a:ext cx="26609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</a:rPr>
              <a:t>Prevention of error propagation through early detection.</a:t>
            </a:r>
            <a:endParaRPr lang="en-US" sz="727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1641" y="2778919"/>
            <a:ext cx="142875" cy="485775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838816" y="2778919"/>
            <a:ext cx="27908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Resource Optimization</a:t>
            </a:r>
            <a:endParaRPr lang="en-US" sz="885" dirty="0"/>
          </a:p>
        </p:txBody>
      </p:sp>
      <p:sp>
        <p:nvSpPr>
          <p:cNvPr id="45" name="Text 34"/>
          <p:cNvSpPr/>
          <p:nvPr/>
        </p:nvSpPr>
        <p:spPr>
          <a:xfrm>
            <a:off x="5838816" y="2978944"/>
            <a:ext cx="27908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</a:rPr>
              <a:t>Reallocating specialized talent from backfill to high-value tasks.</a:t>
            </a:r>
            <a:endParaRPr lang="en-US" sz="727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1641" y="3436144"/>
            <a:ext cx="142875" cy="485775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838816" y="3436144"/>
            <a:ext cx="27908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Process Automation</a:t>
            </a:r>
            <a:endParaRPr lang="en-US" sz="885" dirty="0"/>
          </a:p>
        </p:txBody>
      </p:sp>
      <p:sp>
        <p:nvSpPr>
          <p:cNvPr id="48" name="Text 36"/>
          <p:cNvSpPr/>
          <p:nvPr/>
        </p:nvSpPr>
        <p:spPr>
          <a:xfrm>
            <a:off x="5838816" y="3636169"/>
            <a:ext cx="27908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</a:rPr>
              <a:t>Moving from reactive manual checks to proactive automated validation.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55135" y="2057400"/>
            <a:ext cx="2433731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6218" b="1" spc="-5" kern="0" dirty="0">
                <a:solidFill>
                  <a:srgbClr val="D41C2C"/>
                </a:solidFill>
              </a:rPr>
              <a:t>DEMO</a:t>
            </a:r>
            <a:endParaRPr lang="en-US" sz="621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2026-01-20T03:13:58Z</dcterms:created>
  <dcterms:modified xsi:type="dcterms:W3CDTF">2026-01-20T03:13:58Z</dcterms:modified>
</cp:coreProperties>
</file>